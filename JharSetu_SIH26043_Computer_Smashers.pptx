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471CD3-F2D3-46B9-8499-7F4DCE7FCB81}" v="5" dt="2026-09-13T01:44:50.7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shit Gajera" userId="1a86971af72e6723" providerId="LiveId" clId="{4D99E4C7-2D1D-42BA-B99D-34D6AD6E888B}"/>
    <pc:docChg chg="custSel modSld">
      <pc:chgData name="Rakshit Gajera" userId="1a86971af72e6723" providerId="LiveId" clId="{4D99E4C7-2D1D-42BA-B99D-34D6AD6E888B}" dt="2026-09-13T01:47:36.734" v="149" actId="1036"/>
      <pc:docMkLst>
        <pc:docMk/>
      </pc:docMkLst>
      <pc:sldChg chg="modSp mod">
        <pc:chgData name="Rakshit Gajera" userId="1a86971af72e6723" providerId="LiveId" clId="{4D99E4C7-2D1D-42BA-B99D-34D6AD6E888B}" dt="2026-09-13T01:41:05.685" v="57" actId="20577"/>
        <pc:sldMkLst>
          <pc:docMk/>
          <pc:sldMk cId="0" sldId="256"/>
        </pc:sldMkLst>
        <pc:spChg chg="mod">
          <ac:chgData name="Rakshit Gajera" userId="1a86971af72e6723" providerId="LiveId" clId="{4D99E4C7-2D1D-42BA-B99D-34D6AD6E888B}" dt="2026-09-13T01:41:05.685" v="57" actId="20577"/>
          <ac:spMkLst>
            <pc:docMk/>
            <pc:sldMk cId="0" sldId="256"/>
            <ac:spMk id="16" creationId="{00000000-0000-0000-0000-000000000000}"/>
          </ac:spMkLst>
        </pc:spChg>
        <pc:spChg chg="mod">
          <ac:chgData name="Rakshit Gajera" userId="1a86971af72e6723" providerId="LiveId" clId="{4D99E4C7-2D1D-42BA-B99D-34D6AD6E888B}" dt="2026-09-13T00:59:26.192" v="24" actId="20577"/>
          <ac:spMkLst>
            <pc:docMk/>
            <pc:sldMk cId="0" sldId="256"/>
            <ac:spMk id="28" creationId="{00000000-0000-0000-0000-000000000000}"/>
          </ac:spMkLst>
        </pc:spChg>
      </pc:sldChg>
      <pc:sldChg chg="modSp mod">
        <pc:chgData name="Rakshit Gajera" userId="1a86971af72e6723" providerId="LiveId" clId="{4D99E4C7-2D1D-42BA-B99D-34D6AD6E888B}" dt="2026-09-13T01:42:42.066" v="79" actId="20577"/>
        <pc:sldMkLst>
          <pc:docMk/>
          <pc:sldMk cId="0" sldId="258"/>
        </pc:sldMkLst>
        <pc:spChg chg="mod">
          <ac:chgData name="Rakshit Gajera" userId="1a86971af72e6723" providerId="LiveId" clId="{4D99E4C7-2D1D-42BA-B99D-34D6AD6E888B}" dt="2026-09-13T01:41:41.412" v="62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Rakshit Gajera" userId="1a86971af72e6723" providerId="LiveId" clId="{4D99E4C7-2D1D-42BA-B99D-34D6AD6E888B}" dt="2026-09-13T01:41:58.479" v="66" actId="20577"/>
          <ac:spMkLst>
            <pc:docMk/>
            <pc:sldMk cId="0" sldId="258"/>
            <ac:spMk id="27" creationId="{00000000-0000-0000-0000-000000000000}"/>
          </ac:spMkLst>
        </pc:spChg>
        <pc:spChg chg="mod">
          <ac:chgData name="Rakshit Gajera" userId="1a86971af72e6723" providerId="LiveId" clId="{4D99E4C7-2D1D-42BA-B99D-34D6AD6E888B}" dt="2026-09-13T01:42:42.066" v="79" actId="20577"/>
          <ac:spMkLst>
            <pc:docMk/>
            <pc:sldMk cId="0" sldId="258"/>
            <ac:spMk id="41" creationId="{00000000-0000-0000-0000-000000000000}"/>
          </ac:spMkLst>
        </pc:spChg>
      </pc:sldChg>
      <pc:sldChg chg="addSp delSp modSp mod">
        <pc:chgData name="Rakshit Gajera" userId="1a86971af72e6723" providerId="LiveId" clId="{4D99E4C7-2D1D-42BA-B99D-34D6AD6E888B}" dt="2026-09-13T01:46:57.801" v="148" actId="1036"/>
        <pc:sldMkLst>
          <pc:docMk/>
          <pc:sldMk cId="0" sldId="259"/>
        </pc:sldMkLst>
        <pc:spChg chg="mod">
          <ac:chgData name="Rakshit Gajera" userId="1a86971af72e6723" providerId="LiveId" clId="{4D99E4C7-2D1D-42BA-B99D-34D6AD6E888B}" dt="2026-09-13T01:46:57.801" v="148" actId="1036"/>
          <ac:spMkLst>
            <pc:docMk/>
            <pc:sldMk cId="0" sldId="259"/>
            <ac:spMk id="6" creationId="{00000000-0000-0000-0000-000000000000}"/>
          </ac:spMkLst>
        </pc:spChg>
        <pc:spChg chg="mod">
          <ac:chgData name="Rakshit Gajera" userId="1a86971af72e6723" providerId="LiveId" clId="{4D99E4C7-2D1D-42BA-B99D-34D6AD6E888B}" dt="2026-09-13T01:44:39.971" v="83" actId="20577"/>
          <ac:spMkLst>
            <pc:docMk/>
            <pc:sldMk cId="0" sldId="259"/>
            <ac:spMk id="30" creationId="{00000000-0000-0000-0000-000000000000}"/>
          </ac:spMkLst>
        </pc:spChg>
        <pc:spChg chg="del">
          <ac:chgData name="Rakshit Gajera" userId="1a86971af72e6723" providerId="LiveId" clId="{4D99E4C7-2D1D-42BA-B99D-34D6AD6E888B}" dt="2026-09-13T01:44:49.520" v="84" actId="478"/>
          <ac:spMkLst>
            <pc:docMk/>
            <pc:sldMk cId="0" sldId="259"/>
            <ac:spMk id="35" creationId="{00000000-0000-0000-0000-000000000000}"/>
          </ac:spMkLst>
        </pc:spChg>
        <pc:spChg chg="mod">
          <ac:chgData name="Rakshit Gajera" userId="1a86971af72e6723" providerId="LiveId" clId="{4D99E4C7-2D1D-42BA-B99D-34D6AD6E888B}" dt="2026-09-13T01:45:23.080" v="114" actId="20577"/>
          <ac:spMkLst>
            <pc:docMk/>
            <pc:sldMk cId="0" sldId="259"/>
            <ac:spMk id="38" creationId="{00000000-0000-0000-0000-000000000000}"/>
          </ac:spMkLst>
        </pc:spChg>
        <pc:spChg chg="mod">
          <ac:chgData name="Rakshit Gajera" userId="1a86971af72e6723" providerId="LiveId" clId="{4D99E4C7-2D1D-42BA-B99D-34D6AD6E888B}" dt="2026-09-13T01:46:44.405" v="147" actId="20577"/>
          <ac:spMkLst>
            <pc:docMk/>
            <pc:sldMk cId="0" sldId="259"/>
            <ac:spMk id="45" creationId="{00000000-0000-0000-0000-000000000000}"/>
          </ac:spMkLst>
        </pc:spChg>
        <pc:spChg chg="add del mod">
          <ac:chgData name="Rakshit Gajera" userId="1a86971af72e6723" providerId="LiveId" clId="{4D99E4C7-2D1D-42BA-B99D-34D6AD6E888B}" dt="2026-09-13T01:45:18.021" v="96"/>
          <ac:spMkLst>
            <pc:docMk/>
            <pc:sldMk cId="0" sldId="259"/>
            <ac:spMk id="96" creationId="{D11CCEA7-9C82-2B4E-A6DA-D8A39577AA75}"/>
          </ac:spMkLst>
        </pc:spChg>
      </pc:sldChg>
      <pc:sldChg chg="modSp mod">
        <pc:chgData name="Rakshit Gajera" userId="1a86971af72e6723" providerId="LiveId" clId="{4D99E4C7-2D1D-42BA-B99D-34D6AD6E888B}" dt="2026-09-13T01:47:36.734" v="149" actId="1036"/>
        <pc:sldMkLst>
          <pc:docMk/>
          <pc:sldMk cId="0" sldId="260"/>
        </pc:sldMkLst>
        <pc:spChg chg="mod">
          <ac:chgData name="Rakshit Gajera" userId="1a86971af72e6723" providerId="LiveId" clId="{4D99E4C7-2D1D-42BA-B99D-34D6AD6E888B}" dt="2026-09-13T01:47:36.734" v="149" actId="1036"/>
          <ac:spMkLst>
            <pc:docMk/>
            <pc:sldMk cId="0" sldId="260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7282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problem statement: SIH26043, a platform that turns citizen-reported problems into college-built, company- and NGO-funded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failures: lost reports, no trust signal, idle university talent, CSR/NGO money that can't find small needs, invisible delays. JharSetu fixes all five in one chain with six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links left to right. Point at the screenshot: this is the real app. USP: AI that shows its evidence, and a loop that ends in delivered work, not a complaint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Serverless Next.js on Supabase. Every AI step has a rule-based fallback, so the flow never breaks when a model is unavailable. Row-level security enforces what each role sees inside the database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Feasibility: it already runs end to end, verified by an automated 54-step test. Seeded numbers are a simulated scenario. Scale by configuration: a new state is a new region, not a new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naming the guidelines followed and thanking the organisers. Offer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64B7A">
              <a:alpha val="45000"/>
            </a:srgbClr>
          </a:solidFill>
          <a:ln w="12700">
            <a:solidFill>
              <a:srgbClr val="164B7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4480560"/>
            <a:ext cx="3291840" cy="3291840"/>
          </a:xfrm>
          <a:prstGeom prst="ellipse">
            <a:avLst/>
          </a:prstGeom>
          <a:solidFill>
            <a:srgbClr val="0B969B">
              <a:alpha val="30000"/>
            </a:srgbClr>
          </a:solidFill>
          <a:ln w="12700">
            <a:solidFill>
              <a:srgbClr val="0B969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54864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48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PROBLEM STATEMENT ID  ·  SIH26043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0" y="54864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1F4D78"/>
          </a:solidFill>
          <a:ln w="12700">
            <a:solidFill>
              <a:srgbClr val="1F4D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548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DE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SMART INDIA HACKATHON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024128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JharSetu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713232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FB8D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झारसेतु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248716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7FD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a need. Form a team. Close the loop.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3154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FB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401568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digital platform to crowdsource societal challenges and facilitate collaborative problem solving through universities and industry partnerships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46177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123A63"/>
          </a:solidFill>
          <a:ln w="9525">
            <a:solidFill>
              <a:srgbClr val="2556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690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FB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49377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[Disaster Management]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98648" y="46177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123A63"/>
          </a:solidFill>
          <a:ln w="9525">
            <a:solidFill>
              <a:srgbClr val="2556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35808" y="4690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FB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35808" y="49377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Software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11496" y="46177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123A63"/>
          </a:solidFill>
          <a:ln w="9525">
            <a:solidFill>
              <a:srgbClr val="2556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48656" y="4690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FB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ORGANISATION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48656" y="49377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Government of Jharkhand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7607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prototype: citizen report → verified → college solution → funded → delivered.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26680" y="1097280"/>
            <a:ext cx="3886200" cy="498348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77800" dist="508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46720" y="1371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B9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NAME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046720" y="1600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B2A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Computer Smashers</a:t>
            </a:r>
            <a:endParaRPr lang="en-US" sz="2500" dirty="0"/>
          </a:p>
        </p:txBody>
      </p:sp>
      <p:sp>
        <p:nvSpPr>
          <p:cNvPr id="27" name="Shape 25"/>
          <p:cNvSpPr/>
          <p:nvPr/>
        </p:nvSpPr>
        <p:spPr>
          <a:xfrm>
            <a:off x="8046720" y="219456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FBF1D3"/>
          </a:solidFill>
          <a:ln w="9525">
            <a:solidFill>
              <a:srgbClr val="D9A514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8165592" y="21945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6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ID   </a:t>
            </a:r>
            <a:r>
              <a:rPr lang="en-US" sz="1100" dirty="0">
                <a:solidFill>
                  <a:srgbClr val="1426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[SIH26043]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46720" y="2761488"/>
            <a:ext cx="3246120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28986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B9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LEADER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046720" y="3200400"/>
            <a:ext cx="475488" cy="475488"/>
          </a:xfrm>
          <a:prstGeom prst="ellipse">
            <a:avLst/>
          </a:prstGeom>
          <a:solidFill>
            <a:srgbClr val="164B7A"/>
          </a:solidFill>
          <a:ln w="12700">
            <a:solidFill>
              <a:srgbClr val="164B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41080" y="316382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426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Rakshit</a:t>
            </a:r>
            <a:endParaRPr lang="en-US" sz="1700" dirty="0"/>
          </a:p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Leader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046720" y="3931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B9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MEMBERS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46720" y="4251960"/>
            <a:ext cx="384048" cy="384048"/>
          </a:xfrm>
          <a:prstGeom prst="ellipse">
            <a:avLst/>
          </a:prstGeom>
          <a:solidFill>
            <a:srgbClr val="DDF1F1"/>
          </a:solidFill>
          <a:ln w="9525">
            <a:solidFill>
              <a:srgbClr val="0B969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96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22208" y="42519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6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Kahan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692640" y="4251960"/>
            <a:ext cx="384048" cy="384048"/>
          </a:xfrm>
          <a:prstGeom prst="ellipse">
            <a:avLst/>
          </a:prstGeom>
          <a:solidFill>
            <a:srgbClr val="DDF1F1"/>
          </a:solidFill>
          <a:ln w="9525">
            <a:solidFill>
              <a:srgbClr val="0B969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9264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96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168128" y="42519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6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Dhairya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046720" y="4818888"/>
            <a:ext cx="384048" cy="384048"/>
          </a:xfrm>
          <a:prstGeom prst="ellipse">
            <a:avLst/>
          </a:prstGeom>
          <a:solidFill>
            <a:srgbClr val="DDF1F1"/>
          </a:solidFill>
          <a:ln w="9525">
            <a:solidFill>
              <a:srgbClr val="0B969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96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522208" y="481888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6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Soham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692640" y="4818888"/>
            <a:ext cx="384048" cy="384048"/>
          </a:xfrm>
          <a:prstGeom prst="ellipse">
            <a:avLst/>
          </a:prstGeom>
          <a:solidFill>
            <a:srgbClr val="DDF1F1"/>
          </a:solidFill>
          <a:ln w="9525">
            <a:solidFill>
              <a:srgbClr val="0B969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9264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96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168128" y="481888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6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Disha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046720" y="5385816"/>
            <a:ext cx="384048" cy="384048"/>
          </a:xfrm>
          <a:prstGeom prst="ellipse">
            <a:avLst/>
          </a:prstGeom>
          <a:solidFill>
            <a:srgbClr val="DDF1F1"/>
          </a:solidFill>
          <a:ln w="9525">
            <a:solidFill>
              <a:srgbClr val="0B969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0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96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522208" y="538581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6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Shreya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45720"/>
          </a:xfrm>
          <a:prstGeom prst="rect">
            <a:avLst/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9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IDEA INTRODUCTION &amp; PROBLEM ADDRESSED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2A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Local problems are seen by many, but solved by no one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4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JharSetu</a:t>
            </a:r>
            <a:r>
              <a:rPr lang="en-US" sz="950" dirty="0">
                <a:solidFill>
                  <a:srgbClr val="7A8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SIH26043   ·   Team Computer Smashers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A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325880"/>
            <a:ext cx="553212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1527048"/>
            <a:ext cx="54864" cy="237744"/>
          </a:xfrm>
          <a:prstGeom prst="rect">
            <a:avLst/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1481328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4B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real-world problem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19842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BE4E1"/>
          </a:solidFill>
          <a:ln w="12700">
            <a:solidFill>
              <a:srgbClr val="FBE4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423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61872" y="1956816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get lost. </a:t>
            </a: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Broken culverts, lightning deaths and unsafe water are raised on WhatsApp, calls and paper — scattered, untracked, often in local languages.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282549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BE4E1"/>
          </a:solidFill>
          <a:ln w="12700">
            <a:solidFill>
              <a:srgbClr val="FBE4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423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61872" y="2798064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trust signal. </a:t>
            </a: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Officials can't tell a real, urgent problem from a duplicate or a false report, so everything waits.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366674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BE4E1"/>
          </a:solidFill>
          <a:ln w="12700">
            <a:solidFill>
              <a:srgbClr val="FBE4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423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61872" y="363931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Talent sits idle. </a:t>
            </a: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Universities want real problems for students, but have no verified list and no route to the field.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45079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BE4E1"/>
          </a:solidFill>
          <a:ln w="12700">
            <a:solidFill>
              <a:srgbClr val="FBE4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507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423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61872" y="44805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Money can't find the need. </a:t>
            </a: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CSR budgets and NGO funds rarely reach small local fixes, and donors can't see what their money did.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" y="534924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BE4E1"/>
          </a:solidFill>
          <a:ln w="12700">
            <a:solidFill>
              <a:srgbClr val="FBE4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349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423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61872" y="532180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Delays are invisible. </a:t>
            </a: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Nobody records how long each step takes, so stalled work is never noticed.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09360" y="1325880"/>
            <a:ext cx="5330952" cy="2148840"/>
          </a:xfrm>
          <a:prstGeom prst="roundRect">
            <a:avLst>
              <a:gd name="adj" fmla="val 3404"/>
            </a:avLst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83680" y="1490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FD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IDEA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17373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bridge from a citizen's report to finished work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83680" y="2212848"/>
            <a:ext cx="4892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CE7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Citizens report in their own language by voice, text or SMS. AI ranks, de-duplicates and </a:t>
            </a:r>
            <a:r>
              <a:rPr lang="en-US" sz="1200" b="1" dirty="0">
                <a:solidFill>
                  <a:srgbClr val="7FD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verifies with cited evidence</a:t>
            </a:r>
            <a:r>
              <a:rPr lang="en-US" sz="1200" dirty="0">
                <a:solidFill>
                  <a:srgbClr val="DCE7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Colleges propose solutions, companies and NGOs </a:t>
            </a:r>
            <a:r>
              <a:rPr lang="en-US" sz="1200" b="1" dirty="0">
                <a:solidFill>
                  <a:srgbClr val="7FD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 them in parts</a:t>
            </a:r>
            <a:r>
              <a:rPr lang="en-US" sz="1200" dirty="0">
                <a:solidFill>
                  <a:srgbClr val="DCE7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every step is tracked to done.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3685032"/>
            <a:ext cx="54864" cy="237744"/>
          </a:xfrm>
          <a:prstGeom prst="rect">
            <a:avLst/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55664" y="363931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4B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Target audience / end users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309360" y="4069080"/>
            <a:ext cx="16916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18504" y="4178808"/>
            <a:ext cx="54864" cy="768096"/>
          </a:xfrm>
          <a:prstGeom prst="rect">
            <a:avLst/>
          </a:prstGeom>
          <a:solidFill>
            <a:srgbClr val="164B7A"/>
          </a:solidFill>
          <a:ln w="12700">
            <a:solidFill>
              <a:srgbClr val="164B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55664" y="41422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4B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Citizens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55664" y="4416552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Villagers &amp; residents — report without an account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110728" y="4069080"/>
            <a:ext cx="16916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119872" y="4178808"/>
            <a:ext cx="54864" cy="768096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57032" y="41422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4231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Verifiers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57032" y="4416552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District / disaster-management officers who confirm with evidence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912096" y="4069080"/>
            <a:ext cx="16916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921240" y="4178808"/>
            <a:ext cx="54864" cy="768096"/>
          </a:xfrm>
          <a:prstGeom prst="rect">
            <a:avLst/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58400" y="41422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96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Colleges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058400" y="4416552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Universities &amp; polytechnics proposing solutions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09360" y="5166360"/>
            <a:ext cx="16916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318504" y="5276088"/>
            <a:ext cx="54864" cy="768096"/>
          </a:xfrm>
          <a:prstGeom prst="rect">
            <a:avLst/>
          </a:prstGeom>
          <a:solidFill>
            <a:srgbClr val="8A6A0A"/>
          </a:solidFill>
          <a:ln w="12700">
            <a:solidFill>
              <a:srgbClr val="8A6A0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55664" y="523951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6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Companies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55664" y="5513832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CSR teams supplying materials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110728" y="5166360"/>
            <a:ext cx="16916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119872" y="5276088"/>
            <a:ext cx="54864" cy="768096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57032" y="523951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4F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NGOs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257032" y="5513832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Trusts &amp; societies funding the work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912096" y="5166360"/>
            <a:ext cx="16916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921240" y="5276088"/>
            <a:ext cx="54864" cy="768096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58400" y="523951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A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Admin / State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058400" y="5513832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owner tracking SLAs &amp; impact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45720"/>
          </a:xfrm>
          <a:prstGeom prst="rect">
            <a:avLst/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9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PROPOSED SOLUTION &amp; CORE FEATURES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2A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Six links, one closed loop — no link can do another's job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4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JharSetu</a:t>
            </a:r>
            <a:r>
              <a:rPr lang="en-US" sz="950" dirty="0">
                <a:solidFill>
                  <a:srgbClr val="7A8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SIH26043   ·   Team Computer Smashers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A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298448"/>
            <a:ext cx="1719072" cy="749808"/>
          </a:xfrm>
          <a:prstGeom prst="roundRect">
            <a:avLst>
              <a:gd name="adj" fmla="val 9756"/>
            </a:avLst>
          </a:prstGeom>
          <a:solidFill>
            <a:srgbClr val="164B7A"/>
          </a:solidFill>
          <a:ln w="12700">
            <a:solidFill>
              <a:srgbClr val="164B7A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13533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" y="153619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178308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E0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· text 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49424" y="146304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96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23160" y="1298448"/>
            <a:ext cx="1719072" cy="749808"/>
          </a:xfrm>
          <a:prstGeom prst="roundRect">
            <a:avLst>
              <a:gd name="adj" fmla="val 9756"/>
            </a:avLst>
          </a:prstGeom>
          <a:solidFill>
            <a:srgbClr val="164B7A"/>
          </a:solidFill>
          <a:ln w="12700">
            <a:solidFill>
              <a:srgbClr val="164B7A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32888" y="13533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32888" y="153619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compiles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32888" y="178308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E0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 · score · merge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23944" y="146304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96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297680" y="1298448"/>
            <a:ext cx="1719072" cy="749808"/>
          </a:xfrm>
          <a:prstGeom prst="roundRect">
            <a:avLst>
              <a:gd name="adj" fmla="val 9756"/>
            </a:avLst>
          </a:prstGeom>
          <a:solidFill>
            <a:srgbClr val="164B7A"/>
          </a:solidFill>
          <a:ln w="12700">
            <a:solidFill>
              <a:srgbClr val="164B7A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07408" y="13533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07408" y="153619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Verify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07408" y="178308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E0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evidence or officer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98464" y="146304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96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172200" y="1298448"/>
            <a:ext cx="1719072" cy="749808"/>
          </a:xfrm>
          <a:prstGeom prst="roundRect">
            <a:avLst>
              <a:gd name="adj" fmla="val 9756"/>
            </a:avLst>
          </a:prstGeom>
          <a:solidFill>
            <a:srgbClr val="164B7A"/>
          </a:solidFill>
          <a:ln w="12700">
            <a:solidFill>
              <a:srgbClr val="164B7A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81928" y="13533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81928" y="153619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College proposes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81928" y="178308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E0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scored by AI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72984" y="146304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96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046720" y="1298448"/>
            <a:ext cx="1719072" cy="749808"/>
          </a:xfrm>
          <a:prstGeom prst="roundRect">
            <a:avLst>
              <a:gd name="adj" fmla="val 9756"/>
            </a:avLst>
          </a:prstGeom>
          <a:solidFill>
            <a:srgbClr val="164B7A"/>
          </a:solidFill>
          <a:ln w="12700">
            <a:solidFill>
              <a:srgbClr val="164B7A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56448" y="13533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56448" y="153619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Fund in parts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56448" y="178308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E0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companies &amp; NGOs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747504" y="146304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96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21240" y="1298448"/>
            <a:ext cx="1719072" cy="749808"/>
          </a:xfrm>
          <a:prstGeom prst="roundRect">
            <a:avLst>
              <a:gd name="adj" fmla="val 9756"/>
            </a:avLst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030968" y="13533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C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030968" y="153619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Track to done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030968" y="178308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E0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stages · receipts · photos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2240280"/>
            <a:ext cx="56692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77240" y="2404872"/>
            <a:ext cx="54864" cy="237744"/>
          </a:xfrm>
          <a:prstGeom prst="rect">
            <a:avLst/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3544" y="23591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4B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77240" y="2761488"/>
            <a:ext cx="530352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in any language, no account: 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Hindi, Santali, Khortha, Nagpuri, English — voice, photo or text 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Explainable AI priority score, 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factor shown; duplicate reports from the same place merged automatically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AI verification 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disasters — checks ERA5 weather records, news and the web, and cites sources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Verifier console: 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or reject with source links and field photos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proposal review: 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scored on a rubric; non-viable ones rejected with reasons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Divisible pledges: 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kg steel = 5 kg + 5 kg from two companies; NGOs fund in ₹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workspace: 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AI-drawn delivery stages, receipt confirmation, photo progress, chat with the college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command centre: 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assistant that explains any case, SLA timings, severity metrics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71716" y="2240280"/>
            <a:ext cx="4343400" cy="2572131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90004" y="2258568"/>
            <a:ext cx="4306824" cy="201168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81444" y="2313432"/>
            <a:ext cx="73152" cy="73152"/>
          </a:xfrm>
          <a:prstGeom prst="ellips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09460" y="2313432"/>
            <a:ext cx="73152" cy="73152"/>
          </a:xfrm>
          <a:prstGeom prst="ellipse">
            <a:avLst/>
          </a:prstGeom>
          <a:solidFill>
            <a:srgbClr val="D9A514"/>
          </a:solidFill>
          <a:ln w="12700">
            <a:solidFill>
              <a:srgbClr val="D9A51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37476" y="2313432"/>
            <a:ext cx="73152" cy="73152"/>
          </a:xfrm>
          <a:prstGeom prst="ellipse">
            <a:avLst/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</p:spPr>
      </p:sp>
      <p:pic>
        <p:nvPicPr>
          <p:cNvPr id="47" name="Image 0" descr="shots/nee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004" y="2459736"/>
            <a:ext cx="4306824" cy="2334387"/>
          </a:xfrm>
          <a:prstGeom prst="rect">
            <a:avLst/>
          </a:prstGeom>
        </p:spPr>
      </p:pic>
      <p:sp>
        <p:nvSpPr>
          <p:cNvPr id="48" name="Shape 45"/>
          <p:cNvSpPr/>
          <p:nvPr/>
        </p:nvSpPr>
        <p:spPr>
          <a:xfrm>
            <a:off x="9111996" y="221284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111996" y="22128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PROTOTYPE · NEEDS BOARD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6446520" y="4940427"/>
            <a:ext cx="5193792" cy="1277493"/>
          </a:xfrm>
          <a:prstGeom prst="roundRect">
            <a:avLst>
              <a:gd name="adj" fmla="val 5726"/>
            </a:avLst>
          </a:prstGeom>
          <a:solidFill>
            <a:srgbClr val="DDF1F1"/>
          </a:solidFill>
          <a:ln w="12700">
            <a:solidFill>
              <a:srgbClr val="0B969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75120" y="5013579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F7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MAKES IT DIFFERENT (USP)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6675120" y="5269611"/>
            <a:ext cx="2377440" cy="455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Evidence-first AI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cites sources; never decides alone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9144000" y="5269611"/>
            <a:ext cx="2377440" cy="455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Closes the loop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→ funded → delivered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6675120" y="5725478"/>
            <a:ext cx="2377440" cy="455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Works on a basic phone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SMS &amp; low bandwidth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9144000" y="5725478"/>
            <a:ext cx="2377440" cy="455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Tamper-evident record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hash-chained ledger + step timings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45720"/>
          </a:xfrm>
          <a:prstGeom prst="rect">
            <a:avLst/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9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APPROACH &amp;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2A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open, serverless stack with AI at every checkpoint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26903"/>
            <a:ext cx="11094415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4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JharSetu</a:t>
            </a:r>
            <a:r>
              <a:rPr lang="en-US" sz="950" dirty="0">
                <a:solidFill>
                  <a:srgbClr val="7A8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SIH26043   ·   Team Computer Smashers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A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280160"/>
            <a:ext cx="54864" cy="237744"/>
          </a:xfrm>
          <a:prstGeom prst="rect">
            <a:avLst/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234440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4B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5257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" y="1709928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164B7A"/>
          </a:solidFill>
          <a:ln w="12700">
            <a:solidFill>
              <a:srgbClr val="164B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170992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16459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16 · React 19 · TypeScript · Tailwind CSS 4 · PWA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194560"/>
            <a:ext cx="5257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" y="2258568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164B7A"/>
          </a:solidFill>
          <a:ln w="12700">
            <a:solidFill>
              <a:srgbClr val="164B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25856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Backend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21945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15 API routes · Node.js 22 · Zod validation · Vercel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5257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" y="2807208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280720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274320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Postgres · PostGIS · pgvector · Row-Level Security · Storage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291840"/>
            <a:ext cx="5257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" y="3355848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8A6A0A"/>
          </a:solidFill>
          <a:ln w="12700">
            <a:solidFill>
              <a:srgbClr val="8A6A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335584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/ ML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37360" y="32918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Gemini (model cascade) · Whisper speech-to-text · vector dedup · PDF text extraction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840480"/>
            <a:ext cx="5257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3904488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390448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APIs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737360" y="38404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Open-Meteo (ERA5 reanalysis) · NewsAPI · Tavily web search 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389120"/>
            <a:ext cx="5257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4453128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445312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737360" y="43891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Auth · role-based access · photo GPS stripping · SHA-256 hash-chained ledger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" y="5001768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7A8899"/>
          </a:solidFill>
          <a:ln w="12700">
            <a:solidFill>
              <a:srgbClr val="7A8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00176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Hardware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737360" y="49377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needed — any smartphone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35040" y="1234440"/>
            <a:ext cx="5605272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217920" y="1325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B9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ARCHITECTURE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15910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172200" y="182880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C7DDEC"/>
          </a:solidFill>
          <a:ln w="12700">
            <a:solidFill>
              <a:srgbClr val="C7DD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18288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 PWA</a:t>
            </a:r>
            <a:endParaRPr lang="en-US" sz="9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64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· photo · text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72200" y="251460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C7DDEC"/>
          </a:solidFill>
          <a:ln w="12700">
            <a:solidFill>
              <a:srgbClr val="C7DD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25146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gateway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/>
              <a:t>Webapp</a:t>
            </a:r>
          </a:p>
        </p:txBody>
      </p:sp>
      <p:sp>
        <p:nvSpPr>
          <p:cNvPr id="46" name="Shape 44"/>
          <p:cNvSpPr/>
          <p:nvPr/>
        </p:nvSpPr>
        <p:spPr>
          <a:xfrm>
            <a:off x="6172200" y="3200400"/>
            <a:ext cx="1371600" cy="713232"/>
          </a:xfrm>
          <a:prstGeom prst="roundRect">
            <a:avLst>
              <a:gd name="adj" fmla="val 7692"/>
            </a:avLst>
          </a:prstGeom>
          <a:solidFill>
            <a:srgbClr val="C7DDEC"/>
          </a:solidFill>
          <a:ln w="12700">
            <a:solidFill>
              <a:srgbClr val="C7DD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32004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dashboards</a:t>
            </a:r>
            <a:endParaRPr lang="en-US" sz="9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64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verifier · college · company · NGO · admin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772400" y="15910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772400" y="182880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164B7A"/>
          </a:solidFill>
          <a:ln w="12700">
            <a:solidFill>
              <a:srgbClr val="164B7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18120" y="1828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16 frontend</a:t>
            </a:r>
            <a:endParaRPr lang="en-US" sz="9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UI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772400" y="2651760"/>
            <a:ext cx="1463040" cy="1261872"/>
          </a:xfrm>
          <a:prstGeom prst="roundRect">
            <a:avLst>
              <a:gd name="adj" fmla="val 4348"/>
            </a:avLst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18120" y="2651760"/>
            <a:ext cx="1371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API</a:t>
            </a:r>
            <a:endParaRPr lang="en-US" sz="9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Zod validation · RBAC · rate limits · background jobs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509760" y="15910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domain services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509760" y="1828800"/>
            <a:ext cx="2011680" cy="301752"/>
          </a:xfrm>
          <a:prstGeom prst="roundRect">
            <a:avLst>
              <a:gd name="adj" fmla="val 15152"/>
            </a:avLst>
          </a:prstGeom>
          <a:solidFill>
            <a:srgbClr val="DDF1F1"/>
          </a:solidFill>
          <a:ln w="6350">
            <a:solidFill>
              <a:srgbClr val="A9D9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582912" y="182880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compiler</a:t>
            </a:r>
            <a:r>
              <a:rPr lang="en-US" sz="750" dirty="0">
                <a:solidFill>
                  <a:srgbClr val="1F7F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Gemini + Whisper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509760" y="2176272"/>
            <a:ext cx="2011680" cy="301752"/>
          </a:xfrm>
          <a:prstGeom prst="roundRect">
            <a:avLst>
              <a:gd name="adj" fmla="val 15152"/>
            </a:avLst>
          </a:prstGeom>
          <a:solidFill>
            <a:srgbClr val="DDF1F1"/>
          </a:solidFill>
          <a:ln w="6350">
            <a:solidFill>
              <a:srgbClr val="A9D9D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582912" y="217627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Dedup &amp; scoring</a:t>
            </a:r>
            <a:r>
              <a:rPr lang="en-US" sz="750" dirty="0">
                <a:solidFill>
                  <a:srgbClr val="1F7F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pgvector + PostGIS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509760" y="2523744"/>
            <a:ext cx="2011680" cy="301752"/>
          </a:xfrm>
          <a:prstGeom prst="roundRect">
            <a:avLst>
              <a:gd name="adj" fmla="val 15152"/>
            </a:avLst>
          </a:prstGeom>
          <a:solidFill>
            <a:srgbClr val="DDF1F1"/>
          </a:solidFill>
          <a:ln w="6350">
            <a:solidFill>
              <a:srgbClr val="A9D9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582912" y="2523744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Corroboration</a:t>
            </a:r>
            <a:r>
              <a:rPr lang="en-US" sz="750" dirty="0">
                <a:solidFill>
                  <a:srgbClr val="1F7F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ERA5 · news · web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509760" y="2871216"/>
            <a:ext cx="2011680" cy="301752"/>
          </a:xfrm>
          <a:prstGeom prst="roundRect">
            <a:avLst>
              <a:gd name="adj" fmla="val 15152"/>
            </a:avLst>
          </a:prstGeom>
          <a:solidFill>
            <a:srgbClr val="DDF1F1"/>
          </a:solidFill>
          <a:ln w="6350">
            <a:solidFill>
              <a:srgbClr val="A9D9D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582912" y="2871216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Proposal reviewer</a:t>
            </a:r>
            <a:r>
              <a:rPr lang="en-US" sz="750" dirty="0">
                <a:solidFill>
                  <a:srgbClr val="1F7F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PDF → score → stages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509760" y="3218688"/>
            <a:ext cx="2011680" cy="301752"/>
          </a:xfrm>
          <a:prstGeom prst="roundRect">
            <a:avLst>
              <a:gd name="adj" fmla="val 15152"/>
            </a:avLst>
          </a:prstGeom>
          <a:solidFill>
            <a:srgbClr val="DDF1F1"/>
          </a:solidFill>
          <a:ln w="6350">
            <a:solidFill>
              <a:srgbClr val="A9D9D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582912" y="321868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swarm</a:t>
            </a:r>
            <a:r>
              <a:rPr lang="en-US" sz="750" dirty="0">
                <a:solidFill>
                  <a:srgbClr val="1F7F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pledges · receipts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9509760" y="3566160"/>
            <a:ext cx="2011680" cy="301752"/>
          </a:xfrm>
          <a:prstGeom prst="roundRect">
            <a:avLst>
              <a:gd name="adj" fmla="val 15152"/>
            </a:avLst>
          </a:prstGeom>
          <a:solidFill>
            <a:srgbClr val="DDF1F1"/>
          </a:solidFill>
          <a:ln w="6350">
            <a:solidFill>
              <a:srgbClr val="A9D9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582912" y="356616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assistant</a:t>
            </a:r>
            <a:r>
              <a:rPr lang="en-US" sz="750" dirty="0">
                <a:solidFill>
                  <a:srgbClr val="1F7F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answers from record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772400" y="4114800"/>
            <a:ext cx="3749040" cy="685800"/>
          </a:xfrm>
          <a:prstGeom prst="roundRect">
            <a:avLst>
              <a:gd name="adj" fmla="val 8000"/>
            </a:avLst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18120" y="4114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endParaRPr lang="en-US" sz="9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 · Row-Level Security · Auth · private file storage · hash-chained ledger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7543800" y="2112264"/>
            <a:ext cx="228600" cy="36576"/>
          </a:xfrm>
          <a:prstGeom prst="line">
            <a:avLst/>
          </a:prstGeom>
          <a:noFill/>
          <a:ln w="15875">
            <a:solidFill>
              <a:srgbClr val="7A8899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7543800" y="2798064"/>
            <a:ext cx="228600" cy="219456"/>
          </a:xfrm>
          <a:prstGeom prst="line">
            <a:avLst/>
          </a:prstGeom>
          <a:noFill/>
          <a:ln w="15875">
            <a:solidFill>
              <a:srgbClr val="7A8899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 flipV="1">
            <a:off x="7543800" y="3474720"/>
            <a:ext cx="228600" cy="82296"/>
          </a:xfrm>
          <a:prstGeom prst="line">
            <a:avLst/>
          </a:prstGeom>
          <a:noFill/>
          <a:ln w="15875">
            <a:solidFill>
              <a:srgbClr val="7A8899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8503920" y="2468880"/>
            <a:ext cx="914" cy="182880"/>
          </a:xfrm>
          <a:prstGeom prst="line">
            <a:avLst/>
          </a:prstGeom>
          <a:noFill/>
          <a:ln w="15875">
            <a:solidFill>
              <a:srgbClr val="7A8899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 flipV="1">
            <a:off x="9235440" y="2834640"/>
            <a:ext cx="274320" cy="274320"/>
          </a:xfrm>
          <a:prstGeom prst="line">
            <a:avLst/>
          </a:prstGeom>
          <a:noFill/>
          <a:ln w="15875">
            <a:solidFill>
              <a:srgbClr val="0B969B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8503920" y="3913632"/>
            <a:ext cx="914" cy="201168"/>
          </a:xfrm>
          <a:prstGeom prst="line">
            <a:avLst/>
          </a:prstGeom>
          <a:noFill/>
          <a:ln w="15875">
            <a:solidFill>
              <a:srgbClr val="7A8899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10515600" y="3913632"/>
            <a:ext cx="914" cy="201168"/>
          </a:xfrm>
          <a:prstGeom prst="line">
            <a:avLst/>
          </a:prstGeom>
          <a:noFill/>
          <a:ln w="15875">
            <a:solidFill>
              <a:srgbClr val="0B969B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6035040" y="5166360"/>
            <a:ext cx="54864" cy="237744"/>
          </a:xfrm>
          <a:prstGeom prst="rect">
            <a:avLst/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81344" y="5120640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4B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Step-by-step execution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6437376" y="5522976"/>
            <a:ext cx="310896" cy="310896"/>
          </a:xfrm>
          <a:prstGeom prst="ellipse">
            <a:avLst/>
          </a:prstGeom>
          <a:solidFill>
            <a:srgbClr val="164B7A"/>
          </a:solidFill>
          <a:ln w="12700">
            <a:solidFill>
              <a:srgbClr val="164B7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37376" y="5522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784848" y="5678424"/>
            <a:ext cx="777240" cy="0"/>
          </a:xfrm>
          <a:prstGeom prst="line">
            <a:avLst/>
          </a:prstGeom>
          <a:noFill/>
          <a:ln w="19050">
            <a:solidFill>
              <a:srgbClr val="C7DDE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016752" y="5870448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Schema, RLS &amp; roles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7562088" y="5522976"/>
            <a:ext cx="310896" cy="310896"/>
          </a:xfrm>
          <a:prstGeom prst="ellipse">
            <a:avLst/>
          </a:prstGeom>
          <a:solidFill>
            <a:srgbClr val="164B7A"/>
          </a:solidFill>
          <a:ln w="12700">
            <a:solidFill>
              <a:srgbClr val="164B7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562088" y="5522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909560" y="5678424"/>
            <a:ext cx="777240" cy="0"/>
          </a:xfrm>
          <a:prstGeom prst="line">
            <a:avLst/>
          </a:prstGeom>
          <a:noFill/>
          <a:ln w="19050">
            <a:solidFill>
              <a:srgbClr val="C7DDE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41464" y="5870448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Intake, AI compiler &amp; dedup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8686800" y="5522976"/>
            <a:ext cx="310896" cy="310896"/>
          </a:xfrm>
          <a:prstGeom prst="ellipse">
            <a:avLst/>
          </a:prstGeom>
          <a:solidFill>
            <a:srgbClr val="164B7A"/>
          </a:solidFill>
          <a:ln w="12700">
            <a:solidFill>
              <a:srgbClr val="164B7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686800" y="5522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9034272" y="5678424"/>
            <a:ext cx="777240" cy="0"/>
          </a:xfrm>
          <a:prstGeom prst="line">
            <a:avLst/>
          </a:prstGeom>
          <a:noFill/>
          <a:ln w="19050">
            <a:solidFill>
              <a:srgbClr val="C7DDE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66176" y="5870448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 &amp; corroboration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9811512" y="5522976"/>
            <a:ext cx="310896" cy="310896"/>
          </a:xfrm>
          <a:prstGeom prst="ellipse">
            <a:avLst/>
          </a:prstGeom>
          <a:solidFill>
            <a:srgbClr val="164B7A"/>
          </a:solidFill>
          <a:ln w="12700">
            <a:solidFill>
              <a:srgbClr val="164B7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811512" y="5522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0158984" y="5678424"/>
            <a:ext cx="777240" cy="0"/>
          </a:xfrm>
          <a:prstGeom prst="line">
            <a:avLst/>
          </a:prstGeom>
          <a:noFill/>
          <a:ln w="19050">
            <a:solidFill>
              <a:srgbClr val="C7DDE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390888" y="5870448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Proposals, awards &amp; pledges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0936224" y="5522976"/>
            <a:ext cx="310896" cy="310896"/>
          </a:xfrm>
          <a:prstGeom prst="ellipse">
            <a:avLst/>
          </a:prstGeom>
          <a:solidFill>
            <a:srgbClr val="164B7A"/>
          </a:solidFill>
          <a:ln w="12700">
            <a:solidFill>
              <a:srgbClr val="164B7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936224" y="5522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10515600" y="5870448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Dashboards, assistant &amp; E2E tests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45720"/>
          </a:xfrm>
          <a:prstGeom prst="rect">
            <a:avLst/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9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FEASIBILITY, USE CASES &amp; IMPACT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2A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Working today, built to scale across India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4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JharSetu</a:t>
            </a:r>
            <a:r>
              <a:rPr lang="en-US" sz="950" dirty="0">
                <a:solidFill>
                  <a:srgbClr val="7A8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SIH26043   ·   Team Computer Smashers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A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333695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1508760"/>
            <a:ext cx="54864" cy="237744"/>
          </a:xfrm>
          <a:prstGeom prst="rect">
            <a:avLst/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1463040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4B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Feasibility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1901952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DDF1F1"/>
          </a:solidFill>
          <a:ln w="12700">
            <a:solidFill>
              <a:srgbClr val="DDF1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190195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7F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prototype  </a:t>
            </a: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6 roles live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377440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DDF1F1"/>
          </a:solidFill>
          <a:ln w="12700">
            <a:solidFill>
              <a:srgbClr val="DDF1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377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7F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 / 54  </a:t>
            </a: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flow checks pass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2852928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DDF1F1"/>
          </a:solidFill>
          <a:ln w="12700">
            <a:solidFill>
              <a:srgbClr val="DDF1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8529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7F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Open-source stack  </a:t>
            </a: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running cost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34015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423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CHALLENGES  →  HOW WE HANDLE THEM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367588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Poor rural connectivity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SMS intake, offline queue, lightweight pages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416966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mistakes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 cite sources; rule fallback; human verifier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" y="466344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Fake or duplicate reports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 + text dedup, evidence checks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515721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 adoption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fits CSR &amp; university outreach, free onboarding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7240" y="565099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privacy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RLS, photo GPS stripped, DPDP-aligned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34840" y="132588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508760"/>
            <a:ext cx="54864" cy="237744"/>
          </a:xfrm>
          <a:prstGeom prst="rect">
            <a:avLst/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1463040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4B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Impact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63440" y="1901952"/>
            <a:ext cx="54864" cy="1234440"/>
          </a:xfrm>
          <a:prstGeom prst="rect">
            <a:avLst/>
          </a:prstGeom>
          <a:solidFill>
            <a:srgbClr val="164B7A"/>
          </a:solidFill>
          <a:ln w="12700">
            <a:solidFill>
              <a:srgbClr val="164B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901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4B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Societal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828032" y="2203704"/>
            <a:ext cx="309067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Citizens heard in their own language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Disaster fixes reach cut-off villages faster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solve real local problems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319272"/>
            <a:ext cx="54864" cy="1234440"/>
          </a:xfrm>
          <a:prstGeom prst="rect">
            <a:avLst/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319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96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Environmental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828032" y="3621024"/>
            <a:ext cx="309067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Flood, drought &amp; lightning early-warning projects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Materials used where they are needed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Climate-risk hotspots mapped by village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4736592"/>
            <a:ext cx="54864" cy="1234440"/>
          </a:xfrm>
          <a:prstGeom prst="rect">
            <a:avLst/>
          </a:prstGeom>
          <a:solidFill>
            <a:srgbClr val="8A6A0A"/>
          </a:solidFill>
          <a:ln w="12700">
            <a:solidFill>
              <a:srgbClr val="8A6A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4736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6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Commercial / economic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828032" y="5038344"/>
            <a:ext cx="309067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CSR spend with proof of delivery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cost of local repairs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Transparent, auditable public spending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0" y="1325880"/>
            <a:ext cx="3410712" cy="4892040"/>
          </a:xfrm>
          <a:prstGeom prst="roundRect">
            <a:avLst>
              <a:gd name="adj" fmla="val 2145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458200" y="1508760"/>
            <a:ext cx="54864" cy="237744"/>
          </a:xfrm>
          <a:prstGeom prst="rect">
            <a:avLst/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04504" y="1463040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4B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Scale &amp; national alignment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458200" y="1975104"/>
            <a:ext cx="274320" cy="274320"/>
          </a:xfrm>
          <a:prstGeom prst="ellipse">
            <a:avLst/>
          </a:prstGeom>
          <a:solidFill>
            <a:srgbClr val="164B7A"/>
          </a:solidFill>
          <a:ln w="12700">
            <a:solidFill>
              <a:srgbClr val="164B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5820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595360" y="2249424"/>
            <a:ext cx="0" cy="256032"/>
          </a:xfrm>
          <a:prstGeom prst="line">
            <a:avLst/>
          </a:prstGeom>
          <a:noFill/>
          <a:ln w="19050">
            <a:solidFill>
              <a:srgbClr val="C7DD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51392" y="192024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district in Jharkhand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458200" y="2505456"/>
            <a:ext cx="274320" cy="274320"/>
          </a:xfrm>
          <a:prstGeom prst="ellipse">
            <a:avLst/>
          </a:prstGeom>
          <a:solidFill>
            <a:srgbClr val="164B7A"/>
          </a:solidFill>
          <a:ln w="12700">
            <a:solidFill>
              <a:srgbClr val="164B7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58200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595360" y="2779776"/>
            <a:ext cx="0" cy="256032"/>
          </a:xfrm>
          <a:prstGeom prst="line">
            <a:avLst/>
          </a:prstGeom>
          <a:noFill/>
          <a:ln w="19050">
            <a:solidFill>
              <a:srgbClr val="C7DD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51392" y="245059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24 districts of Jharkhand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458200" y="3035808"/>
            <a:ext cx="274320" cy="274320"/>
          </a:xfrm>
          <a:prstGeom prst="ellipse">
            <a:avLst/>
          </a:prstGeom>
          <a:solidFill>
            <a:srgbClr val="164B7A"/>
          </a:solidFill>
          <a:ln w="12700">
            <a:solidFill>
              <a:srgbClr val="164B7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58200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595360" y="3310128"/>
            <a:ext cx="0" cy="256032"/>
          </a:xfrm>
          <a:prstGeom prst="line">
            <a:avLst/>
          </a:prstGeom>
          <a:noFill/>
          <a:ln w="19050">
            <a:solidFill>
              <a:srgbClr val="C7DD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51392" y="298094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Multi-state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config-driven regions (Rajkot demo live)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458200" y="3566160"/>
            <a:ext cx="274320" cy="274320"/>
          </a:xfrm>
          <a:prstGeom prst="ellipse">
            <a:avLst/>
          </a:prstGeom>
          <a:solidFill>
            <a:srgbClr val="164B7A"/>
          </a:solidFill>
          <a:ln w="12700">
            <a:solidFill>
              <a:srgbClr val="164B7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5820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851392" y="351129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APIs for state disaster authorities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458200" y="41148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B9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ALIGNS WITH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458200" y="4407408"/>
            <a:ext cx="1499616" cy="4572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9525">
            <a:solidFill>
              <a:srgbClr val="C7DD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94776" y="440740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4B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Digital India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0030968" y="4407408"/>
            <a:ext cx="1499616" cy="4572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9525">
            <a:solidFill>
              <a:srgbClr val="C7DD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067544" y="440740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4B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Unnat Bharat Abhiyan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458200" y="4956048"/>
            <a:ext cx="1499616" cy="4572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9525">
            <a:solidFill>
              <a:srgbClr val="C7DD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94776" y="49560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4B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CSR · Companies Act §135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0030968" y="4956048"/>
            <a:ext cx="1499616" cy="4572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9525">
            <a:solidFill>
              <a:srgbClr val="C7DD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067544" y="495604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4B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NDMA &amp; Sendai Framework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458200" y="5504688"/>
            <a:ext cx="1499616" cy="4572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9525">
            <a:solidFill>
              <a:srgbClr val="C7DD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94776" y="550468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4B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Bhashini (roadmap)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0030968" y="5504688"/>
            <a:ext cx="1499616" cy="4572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9525">
            <a:solidFill>
              <a:srgbClr val="C7DD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067544" y="5504688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4B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Viksit Bharat @2047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45720"/>
          </a:xfrm>
          <a:prstGeom prst="rect">
            <a:avLst/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9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AND REFERENCES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2A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Grounded in research, open data and official guidelines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4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JharSetu</a:t>
            </a:r>
            <a:r>
              <a:rPr lang="en-US" sz="950" dirty="0">
                <a:solidFill>
                  <a:srgbClr val="7A8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SIH26043   ·   Team Computer Smashers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A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325880"/>
            <a:ext cx="3657600" cy="4160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1344168"/>
            <a:ext cx="3621024" cy="73152"/>
          </a:xfrm>
          <a:prstGeom prst="rect">
            <a:avLst/>
          </a:prstGeom>
          <a:solidFill>
            <a:srgbClr val="164B7A"/>
          </a:solidFill>
          <a:ln w="12700">
            <a:solidFill>
              <a:srgbClr val="164B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5179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4B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Research papers &amp; journals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1901952"/>
            <a:ext cx="32461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4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</a:t>
            </a:r>
            <a:r>
              <a:rPr lang="en-US" sz="10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Brabham, D. C. (2008). Crowdsourcing as a Model for Problem Solving.</a:t>
            </a:r>
            <a:endParaRPr lang="en-US" sz="10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00" dirty="0">
                <a:solidFill>
                  <a:srgbClr val="7A8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Convergence 14(1), 75–90 · doi:10.1177/1354856507084420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64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</a:t>
            </a:r>
            <a:r>
              <a:rPr lang="en-US" sz="10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Etzkowitz, H. &amp; Leydesdorff, L. (2000). The Dynamics of Innovation: the Triple Helix of University–Industry–Government Relations.</a:t>
            </a:r>
            <a:endParaRPr lang="en-US" sz="10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00" dirty="0">
                <a:solidFill>
                  <a:srgbClr val="7A8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Policy 29(2), 109–123 · doi:10.1016/S0048-7333(99)00055-4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64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</a:t>
            </a:r>
            <a:r>
              <a:rPr lang="en-US" sz="10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Hersbach, H. et al. (2020). The ERA5 Global Reanalysis.</a:t>
            </a:r>
            <a:endParaRPr lang="en-US" sz="10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00" dirty="0">
                <a:solidFill>
                  <a:srgbClr val="7A8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Q. J. R. Meteorol. Soc. 146(730), 1999–2049 · doi:10.1002/qj.3803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64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 </a:t>
            </a:r>
            <a:r>
              <a:rPr lang="en-US" sz="10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Lewis, P. et al. (2020). Retrieval-Augmented Generation for Knowledge-Intensive NLP Tasks.</a:t>
            </a:r>
            <a:endParaRPr lang="en-US" sz="10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00" dirty="0">
                <a:solidFill>
                  <a:srgbClr val="7A8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NeurIPS 2020 · arXiv:2005.11401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64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 </a:t>
            </a:r>
            <a:r>
              <a:rPr lang="en-US" sz="10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[Add: related patent / prior-art search]</a:t>
            </a:r>
            <a:endParaRPr lang="en-US" sz="10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00" dirty="0">
                <a:solidFill>
                  <a:srgbClr val="7A8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InPASS, Indian Patent Office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32588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07408" y="1344168"/>
            <a:ext cx="3575304" cy="73152"/>
          </a:xfrm>
          <a:prstGeom prst="rect">
            <a:avLst/>
          </a:prstGeom>
          <a:solidFill>
            <a:srgbClr val="0B969B"/>
          </a:solidFill>
          <a:ln w="12700">
            <a:solidFill>
              <a:srgbClr val="0B96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51790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96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Datasets &amp; open-source frameworks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17720" y="1901952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B9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</a:t>
            </a:r>
            <a:r>
              <a:rPr lang="en-US" sz="10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Open-Meteo Historical Weather API (ERA5)</a:t>
            </a:r>
            <a:endParaRPr lang="en-US" sz="10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00" dirty="0">
                <a:solidFill>
                  <a:srgbClr val="7A8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open-meteo.com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B9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</a:t>
            </a:r>
            <a:r>
              <a:rPr lang="en-US" sz="10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NewsAPI · Tavily Search API</a:t>
            </a:r>
            <a:endParaRPr lang="en-US" sz="10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00" dirty="0">
                <a:solidFill>
                  <a:srgbClr val="7A8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newsapi.org · tavily.com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B9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</a:t>
            </a:r>
            <a:r>
              <a:rPr lang="en-US" sz="10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Government Directory — districts &amp; villages</a:t>
            </a:r>
            <a:endParaRPr lang="en-US" sz="10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00" dirty="0">
                <a:solidFill>
                  <a:srgbClr val="7A8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lgdirectory.gov.in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B9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 </a:t>
            </a:r>
            <a:r>
              <a:rPr lang="en-US" sz="10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· React · Supabase · PostGIS · pgvector</a:t>
            </a:r>
            <a:endParaRPr lang="en-US" sz="10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00" dirty="0">
                <a:solidFill>
                  <a:srgbClr val="7A8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nextjs.org · supabase.com · postgis.net · github.com/pgvector/pgvector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B96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 </a:t>
            </a:r>
            <a:r>
              <a:rPr lang="en-US" sz="10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 Whisper · pdf-parse</a:t>
            </a:r>
            <a:endParaRPr lang="en-US" sz="10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00" dirty="0">
                <a:solidFill>
                  <a:srgbClr val="7A8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github.com/openai/whisper · npmjs.com/package/pdf-parse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83880" y="1325880"/>
            <a:ext cx="3456432" cy="416052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blurRad="101600" dist="25400" dir="5400000" algn="bl" rotWithShape="0">
              <a:srgbClr val="0B2A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02168" y="1344168"/>
            <a:ext cx="3419856" cy="73152"/>
          </a:xfrm>
          <a:prstGeom prst="rect">
            <a:avLst/>
          </a:prstGeom>
          <a:solidFill>
            <a:srgbClr val="8A6A0A"/>
          </a:solidFill>
          <a:ln w="12700">
            <a:solidFill>
              <a:srgbClr val="8A6A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517904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6A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Official guidelines followed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1901952"/>
            <a:ext cx="304495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8A6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</a:t>
            </a:r>
            <a:r>
              <a:rPr lang="en-US" sz="10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India Hackathon guidelines &amp; PS SIH26043</a:t>
            </a:r>
            <a:endParaRPr lang="en-US" sz="10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00" dirty="0">
                <a:solidFill>
                  <a:srgbClr val="7A8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sih.gov.in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8A6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</a:t>
            </a:r>
            <a:r>
              <a:rPr lang="en-US" sz="10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NDMA — National Disaster Management Plan (2019)</a:t>
            </a:r>
            <a:endParaRPr lang="en-US" sz="10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00" dirty="0">
                <a:solidFill>
                  <a:srgbClr val="7A8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ndma.gov.in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8A6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</a:t>
            </a:r>
            <a:r>
              <a:rPr lang="en-US" sz="10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Sendai Framework for Disaster Risk Reduction 2015–2030</a:t>
            </a:r>
            <a:endParaRPr lang="en-US" sz="10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00" dirty="0">
                <a:solidFill>
                  <a:srgbClr val="7A8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undrr.org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8A6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 </a:t>
            </a:r>
            <a:r>
              <a:rPr lang="en-US" sz="10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Personal Data Protection Act, 2023</a:t>
            </a:r>
            <a:endParaRPr lang="en-US" sz="10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00" dirty="0">
                <a:solidFill>
                  <a:srgbClr val="7A8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meity.gov.in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8A6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 </a:t>
            </a:r>
            <a:r>
              <a:rPr lang="en-US" sz="1000" b="1" dirty="0">
                <a:solidFill>
                  <a:srgbClr val="142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GIGW 3.0 &amp; WCAG 2.1 accessibility</a:t>
            </a:r>
            <a:endParaRPr lang="en-US" sz="10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900" dirty="0">
                <a:solidFill>
                  <a:srgbClr val="7A8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guidelines.india.gov.in · w3.org/WAI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5650992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65099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D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Acknowledgement   </a:t>
            </a:r>
            <a:r>
              <a:rPr lang="en-US" sz="1100" dirty="0">
                <a:solidFill>
                  <a:srgbClr val="DCE7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thank the Government of Jharkhand for the problem statement, our institute and mentors for their guidance, and the Smart India Hackathon team. Demo data shown is a simulated scenario.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1695</Words>
  <Application>Microsoft Office PowerPoint</Application>
  <PresentationFormat>Widescreen</PresentationFormat>
  <Paragraphs>263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Consolas</vt:lpstr>
      <vt:lpstr>Nirmala UI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JharSetu - SIH26043 - Computer Smashers</dc:title>
  <dc:subject>PptxGenJS Presentation</dc:subject>
  <dc:creator>Computer Smashers</dc:creator>
  <cp:lastModifiedBy>Rakshit Gajera</cp:lastModifiedBy>
  <cp:revision>1</cp:revision>
  <dcterms:created xsi:type="dcterms:W3CDTF">2026-09-13T00:57:06Z</dcterms:created>
  <dcterms:modified xsi:type="dcterms:W3CDTF">2026-09-13T01:47:47Z</dcterms:modified>
</cp:coreProperties>
</file>